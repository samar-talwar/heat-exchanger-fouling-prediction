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Pattanakarn Heavy" charset="1" panose="00000000000000000000"/>
      <p:regular r:id="rId34"/>
    </p:embeddedFont>
    <p:embeddedFont>
      <p:font typeface="Pattanakarn Bold" charset="1" panose="00000000000000000000"/>
      <p:regular r:id="rId35"/>
    </p:embeddedFont>
    <p:embeddedFont>
      <p:font typeface="Open Sans" charset="1" panose="00000000000000000000"/>
      <p:regular r:id="rId36"/>
    </p:embeddedFont>
    <p:embeddedFont>
      <p:font typeface="Pattanakarn" charset="1" panose="00000000000000000000"/>
      <p:regular r:id="rId37"/>
    </p:embeddedFont>
    <p:embeddedFont>
      <p:font typeface="Open Sans Medium" charset="1" panose="00000000000000000000"/>
      <p:regular r:id="rId38"/>
    </p:embeddedFont>
    <p:embeddedFont>
      <p:font typeface="Open Sans Bold" charset="1" panose="00000000000000000000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Relationship Id="rId6" Target="../media/image42.png" Type="http://schemas.openxmlformats.org/officeDocument/2006/relationships/image"/><Relationship Id="rId7" Target="../media/image4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Relationship Id="rId3" Target="../media/image5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Relationship Id="rId3" Target="../media/image5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png" Type="http://schemas.openxmlformats.org/officeDocument/2006/relationships/image"/><Relationship Id="rId3" Target="../media/image58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60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1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2.png" Type="http://schemas.openxmlformats.org/officeDocument/2006/relationships/image"/><Relationship Id="rId3" Target="../media/image63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4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5446863" y="1446363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7552" y="287431"/>
            <a:ext cx="1753655" cy="1753655"/>
          </a:xfrm>
          <a:custGeom>
            <a:avLst/>
            <a:gdLst/>
            <a:ahLst/>
            <a:cxnLst/>
            <a:rect r="r" b="b" t="t" l="l"/>
            <a:pathLst>
              <a:path h="1753655" w="1753655">
                <a:moveTo>
                  <a:pt x="0" y="0"/>
                </a:moveTo>
                <a:lnTo>
                  <a:pt x="1753655" y="0"/>
                </a:lnTo>
                <a:lnTo>
                  <a:pt x="1753655" y="1753655"/>
                </a:lnTo>
                <a:lnTo>
                  <a:pt x="0" y="17536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4651864"/>
            <a:ext cx="18288000" cy="2622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92"/>
              </a:lnSpc>
            </a:pPr>
            <a:r>
              <a:rPr lang="en-US" b="true" sz="6266">
                <a:solidFill>
                  <a:srgbClr val="FFFFFF"/>
                </a:solidFill>
                <a:latin typeface="Pattanakarn Heavy"/>
                <a:ea typeface="Pattanakarn Heavy"/>
                <a:cs typeface="Pattanakarn Heavy"/>
                <a:sym typeface="Pattanakarn Heavy"/>
              </a:rPr>
              <a:t>HEAT EXCHANGER FOULING PREDICTION USING MACHINE LEARNING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945301" y="2790413"/>
            <a:ext cx="10397399" cy="1392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3"/>
              </a:lnSpc>
              <a:spcBef>
                <a:spcPct val="0"/>
              </a:spcBef>
            </a:pPr>
            <a:r>
              <a:rPr lang="en-US" b="true" sz="4031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MACHINE LEARNING FOR CHEMICAL ENGINEERING PROJECT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33131" y="8033824"/>
            <a:ext cx="9421737" cy="2150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9"/>
              </a:lnSpc>
            </a:pPr>
            <a:r>
              <a:rPr lang="en-US" sz="307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Sarthak Srivastava - 2022A1PS0889G</a:t>
            </a:r>
          </a:p>
          <a:p>
            <a:pPr algn="ctr">
              <a:lnSpc>
                <a:spcPts val="4309"/>
              </a:lnSpc>
            </a:pPr>
            <a:r>
              <a:rPr lang="en-US" sz="307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Khusboo Jain - 2022A1PS1450G</a:t>
            </a:r>
          </a:p>
          <a:p>
            <a:pPr algn="ctr">
              <a:lnSpc>
                <a:spcPts val="4309"/>
              </a:lnSpc>
            </a:pPr>
            <a:r>
              <a:rPr lang="en-US" sz="307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Shaachi Khanna - 2022A1PS1477G</a:t>
            </a:r>
          </a:p>
          <a:p>
            <a:pPr algn="ctr">
              <a:lnSpc>
                <a:spcPts val="4309"/>
              </a:lnSpc>
              <a:spcBef>
                <a:spcPct val="0"/>
              </a:spcBef>
            </a:pPr>
            <a:r>
              <a:rPr lang="en-US" sz="307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Balram Bhala - 2023A1PS0116G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45301" y="1964886"/>
            <a:ext cx="10397399" cy="688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3"/>
              </a:lnSpc>
              <a:spcBef>
                <a:spcPct val="0"/>
              </a:spcBef>
            </a:pPr>
            <a:r>
              <a:rPr lang="en-US" sz="4031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CHE F315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06557" y="5992813"/>
            <a:ext cx="7204961" cy="3798979"/>
          </a:xfrm>
          <a:custGeom>
            <a:avLst/>
            <a:gdLst/>
            <a:ahLst/>
            <a:cxnLst/>
            <a:rect r="r" b="b" t="t" l="l"/>
            <a:pathLst>
              <a:path h="3798979" w="7204961">
                <a:moveTo>
                  <a:pt x="0" y="0"/>
                </a:moveTo>
                <a:lnTo>
                  <a:pt x="7204961" y="0"/>
                </a:lnTo>
                <a:lnTo>
                  <a:pt x="7204961" y="3798979"/>
                </a:lnTo>
                <a:lnTo>
                  <a:pt x="0" y="37989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1569" y="234531"/>
            <a:ext cx="16984688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PROBLEM STATEMENT AND MOTIVATION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1569" y="1957592"/>
            <a:ext cx="16984688" cy="5934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Heat exchanger fouling is one of the major operational issues in petroleum and chemical processing industries. With increasing run-time, tubes accumulate deposits, reducing heat transfer efficiency and increasing energy consumption.</a:t>
            </a:r>
          </a:p>
          <a:p>
            <a:pPr algn="just">
              <a:lnSpc>
                <a:spcPts val="3639"/>
              </a:lnSpc>
            </a:pPr>
          </a:p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Objective:</a:t>
            </a:r>
          </a:p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 develop machine learning models that can predict Heat Exchanger Performance Ratio (HEPR) using crude properties, process operating conditions, and engineered thermal features.</a:t>
            </a:r>
          </a:p>
          <a:p>
            <a:pPr algn="just">
              <a:lnSpc>
                <a:spcPts val="3639"/>
              </a:lnSpc>
            </a:pPr>
          </a:p>
          <a:p>
            <a:pPr algn="just">
              <a:lnSpc>
                <a:spcPts val="3639"/>
              </a:lnSpc>
            </a:pPr>
          </a:p>
          <a:p>
            <a:pPr algn="just">
              <a:lnSpc>
                <a:spcPts val="3639"/>
              </a:lnSpc>
            </a:pPr>
          </a:p>
          <a:p>
            <a:pPr algn="just">
              <a:lnSpc>
                <a:spcPts val="3639"/>
              </a:lnSpc>
            </a:pPr>
          </a:p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541569" y="5670628"/>
            <a:ext cx="10109150" cy="364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Why ML?</a:t>
            </a:r>
          </a:p>
          <a:p>
            <a:pPr algn="l">
              <a:lnSpc>
                <a:spcPts val="3640"/>
              </a:lnSpc>
            </a:pP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Process f</a:t>
            </a:r>
            <a:r>
              <a:rPr lang="en-US" b="true" sz="260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ouling is highly nonlinear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Difficult to predict analytically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ML enables early detection and schedule 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optimization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Helps avoid shutdowns &amp; improves refinery energy efficiency</a:t>
            </a:r>
          </a:p>
          <a:p>
            <a:pPr algn="ctr">
              <a:lnSpc>
                <a:spcPts val="364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73762" y="490220"/>
            <a:ext cx="14493741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DATA SET DESCRIPTION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6938" y="1752027"/>
            <a:ext cx="15811285" cy="7184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Dataset:</a:t>
            </a:r>
          </a:p>
          <a:p>
            <a:pPr algn="just">
              <a:lnSpc>
                <a:spcPts val="4059"/>
              </a:lnSpc>
            </a:pPr>
            <a:r>
              <a:rPr lang="en-US" sz="2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Industrial dataset containing E-03 preheat train exchanger operating data:</a:t>
            </a:r>
          </a:p>
          <a:p>
            <a:pPr algn="just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~64,000 rows (Downsampled to every 10 hours)</a:t>
            </a:r>
          </a:p>
          <a:p>
            <a:pPr algn="just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Crude properties (API, TAN, Chlorides)</a:t>
            </a:r>
          </a:p>
          <a:p>
            <a:pPr algn="just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Crude &amp; diesel temperature profiles</a:t>
            </a:r>
          </a:p>
          <a:p>
            <a:pPr algn="just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Mass flow rates</a:t>
            </a:r>
          </a:p>
          <a:p>
            <a:pPr algn="just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Heat capacities</a:t>
            </a:r>
          </a:p>
          <a:p>
            <a:pPr algn="just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Operating hours</a:t>
            </a:r>
          </a:p>
          <a:p>
            <a:pPr algn="just">
              <a:lnSpc>
                <a:spcPts val="4059"/>
              </a:lnSpc>
            </a:pPr>
          </a:p>
          <a:p>
            <a:pPr algn="just">
              <a:lnSpc>
                <a:spcPts val="4059"/>
              </a:lnSpc>
            </a:pPr>
            <a:r>
              <a:rPr lang="en-US" sz="2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Target Output:</a:t>
            </a:r>
          </a:p>
          <a:p>
            <a:pPr algn="just">
              <a:lnSpc>
                <a:spcPts val="4059"/>
              </a:lnSpc>
            </a:pPr>
            <a:r>
              <a:rPr lang="en-US" sz="2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HEPR = Actual Heat Duty / Design Heat Duty </a:t>
            </a:r>
          </a:p>
          <a:p>
            <a:pPr algn="just">
              <a:lnSpc>
                <a:spcPts val="4059"/>
              </a:lnSpc>
            </a:pPr>
          </a:p>
          <a:p>
            <a:pPr algn="just">
              <a:lnSpc>
                <a:spcPts val="4059"/>
              </a:lnSpc>
            </a:pPr>
            <a:r>
              <a:rPr lang="en-US" sz="2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Final Dataset → 14 input features + 1 output</a:t>
            </a:r>
          </a:p>
          <a:p>
            <a:pPr algn="just">
              <a:lnSpc>
                <a:spcPts val="40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3762" y="1731177"/>
            <a:ext cx="12045720" cy="7442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1"/>
              </a:lnSpc>
            </a:pPr>
            <a:r>
              <a:rPr lang="en-US" sz="2501" b="true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Input Features (X):</a:t>
            </a:r>
          </a:p>
          <a:p>
            <a:pPr algn="just" marL="540041" indent="-270020" lvl="1">
              <a:lnSpc>
                <a:spcPts val="3501"/>
              </a:lnSpc>
              <a:buFont typeface="Arial"/>
              <a:buChar char="•"/>
            </a:pPr>
            <a:r>
              <a:rPr lang="en-US" b="true" sz="250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Crude </a:t>
            </a:r>
            <a:r>
              <a:rPr lang="en-US" b="true" sz="250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API gravity</a:t>
            </a:r>
          </a:p>
          <a:p>
            <a:pPr algn="just" marL="540041" indent="-270020" lvl="1">
              <a:lnSpc>
                <a:spcPts val="3501"/>
              </a:lnSpc>
              <a:buFont typeface="Arial"/>
              <a:buChar char="•"/>
            </a:pPr>
            <a:r>
              <a:rPr lang="en-US" b="true" sz="250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Crude TAN</a:t>
            </a:r>
          </a:p>
          <a:p>
            <a:pPr algn="just" marL="540041" indent="-270020" lvl="1">
              <a:lnSpc>
                <a:spcPts val="3501"/>
              </a:lnSpc>
              <a:buFont typeface="Arial"/>
              <a:buChar char="•"/>
            </a:pPr>
            <a:r>
              <a:rPr lang="en-US" b="true" sz="250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Crude chlorides</a:t>
            </a:r>
          </a:p>
          <a:p>
            <a:pPr algn="just" marL="540041" indent="-270020" lvl="1">
              <a:lnSpc>
                <a:spcPts val="3501"/>
              </a:lnSpc>
              <a:buFont typeface="Arial"/>
              <a:buChar char="•"/>
            </a:pPr>
            <a:r>
              <a:rPr lang="en-US" b="true" sz="250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Tube-side temperatures (in/out)</a:t>
            </a:r>
          </a:p>
          <a:p>
            <a:pPr algn="just" marL="540041" indent="-270020" lvl="1">
              <a:lnSpc>
                <a:spcPts val="3501"/>
              </a:lnSpc>
              <a:buFont typeface="Arial"/>
              <a:buChar char="•"/>
            </a:pPr>
            <a:r>
              <a:rPr lang="en-US" b="true" sz="250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Mass flow rate</a:t>
            </a:r>
          </a:p>
          <a:p>
            <a:pPr algn="just" marL="540041" indent="-270020" lvl="1">
              <a:lnSpc>
                <a:spcPts val="3501"/>
              </a:lnSpc>
              <a:buFont typeface="Arial"/>
              <a:buChar char="•"/>
            </a:pPr>
            <a:r>
              <a:rPr lang="en-US" b="true" sz="250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Cp</a:t>
            </a:r>
          </a:p>
          <a:p>
            <a:pPr algn="just" marL="540041" indent="-270020" lvl="1">
              <a:lnSpc>
                <a:spcPts val="3501"/>
              </a:lnSpc>
              <a:buFont typeface="Arial"/>
              <a:buChar char="•"/>
            </a:pPr>
            <a:r>
              <a:rPr lang="en-US" b="true" sz="250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Shell-side temperatures</a:t>
            </a:r>
          </a:p>
          <a:p>
            <a:pPr algn="just" marL="540041" indent="-270020" lvl="1">
              <a:lnSpc>
                <a:spcPts val="3501"/>
              </a:lnSpc>
              <a:buFont typeface="Arial"/>
              <a:buChar char="•"/>
            </a:pPr>
            <a:r>
              <a:rPr lang="en-US" b="true" sz="250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Shell-side mass flow rate</a:t>
            </a:r>
          </a:p>
          <a:p>
            <a:pPr algn="just" marL="540041" indent="-270020" lvl="1">
              <a:lnSpc>
                <a:spcPts val="3501"/>
              </a:lnSpc>
              <a:buFont typeface="Arial"/>
              <a:buChar char="•"/>
            </a:pPr>
            <a:r>
              <a:rPr lang="en-US" b="true" sz="250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ΔT (engineered)</a:t>
            </a:r>
          </a:p>
          <a:p>
            <a:pPr algn="just" marL="540041" indent="-270020" lvl="1">
              <a:lnSpc>
                <a:spcPts val="3501"/>
              </a:lnSpc>
              <a:buFont typeface="Arial"/>
              <a:buChar char="•"/>
            </a:pPr>
            <a:r>
              <a:rPr lang="en-US" b="true" sz="250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Shell ΔT (engineered)</a:t>
            </a:r>
          </a:p>
          <a:p>
            <a:pPr algn="just" marL="540041" indent="-270020" lvl="1">
              <a:lnSpc>
                <a:spcPts val="3501"/>
              </a:lnSpc>
              <a:buFont typeface="Arial"/>
              <a:buChar char="•"/>
            </a:pPr>
            <a:r>
              <a:rPr lang="en-US" b="true" sz="250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Operating time (hr and days)</a:t>
            </a:r>
          </a:p>
          <a:p>
            <a:pPr algn="just">
              <a:lnSpc>
                <a:spcPts val="3501"/>
              </a:lnSpc>
            </a:pPr>
          </a:p>
          <a:p>
            <a:pPr algn="just">
              <a:lnSpc>
                <a:spcPts val="3501"/>
              </a:lnSpc>
            </a:pPr>
            <a:r>
              <a:rPr lang="en-US" sz="2501" b="true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Output Feature (y):</a:t>
            </a:r>
          </a:p>
          <a:p>
            <a:pPr algn="just" marL="540041" indent="-270020" lvl="1">
              <a:lnSpc>
                <a:spcPts val="3501"/>
              </a:lnSpc>
              <a:buFont typeface="Arial"/>
              <a:buChar char="•"/>
            </a:pPr>
            <a:r>
              <a:rPr lang="en-US" b="true" sz="250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HEPR (Heat Exchanger Performance Ratio)</a:t>
            </a:r>
          </a:p>
          <a:p>
            <a:pPr algn="just">
              <a:lnSpc>
                <a:spcPts val="3501"/>
              </a:lnSpc>
            </a:pPr>
            <a:r>
              <a:rPr lang="en-US" sz="2501" b="true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HEPR &lt; 1 → fouling happens</a:t>
            </a:r>
          </a:p>
          <a:p>
            <a:pPr algn="just">
              <a:lnSpc>
                <a:spcPts val="3501"/>
              </a:lnSpc>
              <a:spcBef>
                <a:spcPct val="0"/>
              </a:spcBef>
            </a:pPr>
            <a:r>
              <a:rPr lang="en-US" b="true" sz="250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HEPR ≈ 1 → ideal clean conditions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696622" y="3098742"/>
            <a:ext cx="11301259" cy="4089516"/>
          </a:xfrm>
          <a:custGeom>
            <a:avLst/>
            <a:gdLst/>
            <a:ahLst/>
            <a:cxnLst/>
            <a:rect r="r" b="b" t="t" l="l"/>
            <a:pathLst>
              <a:path h="4089516" w="11301259">
                <a:moveTo>
                  <a:pt x="0" y="0"/>
                </a:moveTo>
                <a:lnTo>
                  <a:pt x="11301259" y="0"/>
                </a:lnTo>
                <a:lnTo>
                  <a:pt x="11301259" y="4089516"/>
                </a:lnTo>
                <a:lnTo>
                  <a:pt x="0" y="40895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5870" r="0" b="-1541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73762" y="490220"/>
            <a:ext cx="16585538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INPUT FEATURES &amp; OUTPUT VARIABLE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801908" y="1632311"/>
            <a:ext cx="8076453" cy="7428813"/>
          </a:xfrm>
          <a:custGeom>
            <a:avLst/>
            <a:gdLst/>
            <a:ahLst/>
            <a:cxnLst/>
            <a:rect r="r" b="b" t="t" l="l"/>
            <a:pathLst>
              <a:path h="7428813" w="8076453">
                <a:moveTo>
                  <a:pt x="0" y="0"/>
                </a:moveTo>
                <a:lnTo>
                  <a:pt x="8076452" y="0"/>
                </a:lnTo>
                <a:lnTo>
                  <a:pt x="8076452" y="7428812"/>
                </a:lnTo>
                <a:lnTo>
                  <a:pt x="0" y="7428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5475" t="-21247" r="-21342" b="-14886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26541" y="201598"/>
            <a:ext cx="16732759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ML MODELS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745698"/>
            <a:ext cx="592696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26541" y="2254284"/>
            <a:ext cx="7352687" cy="6127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1"/>
              </a:lnSpc>
            </a:pPr>
            <a:r>
              <a:rPr lang="en-US" sz="2501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ML Model Used - </a:t>
            </a:r>
            <a:r>
              <a:rPr lang="en-US" sz="250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Regression</a:t>
            </a:r>
            <a:r>
              <a:rPr lang="en-US" sz="2501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  <a:p>
            <a:pPr algn="l" marL="540041" indent="-270020" lvl="1">
              <a:lnSpc>
                <a:spcPts val="3501"/>
              </a:lnSpc>
              <a:buFont typeface="Arial"/>
              <a:buChar char="•"/>
            </a:pPr>
            <a:r>
              <a:rPr lang="en-US" sz="250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Multiple Linear Regression (MLR)</a:t>
            </a:r>
          </a:p>
          <a:p>
            <a:pPr algn="l" marL="540041" indent="-270020" lvl="1">
              <a:lnSpc>
                <a:spcPts val="3501"/>
              </a:lnSpc>
              <a:buFont typeface="Arial"/>
              <a:buChar char="•"/>
            </a:pPr>
            <a:r>
              <a:rPr lang="en-US" sz="250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Support Vector Regression (SVR – RBF kernel)</a:t>
            </a:r>
          </a:p>
          <a:p>
            <a:pPr algn="l" marL="540041" indent="-270020" lvl="1">
              <a:lnSpc>
                <a:spcPts val="3501"/>
              </a:lnSpc>
              <a:buFont typeface="Arial"/>
              <a:buChar char="•"/>
            </a:pPr>
            <a:r>
              <a:rPr lang="en-US" sz="250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Principal Component Regression (PCR)</a:t>
            </a:r>
          </a:p>
          <a:p>
            <a:pPr algn="l">
              <a:lnSpc>
                <a:spcPts val="3501"/>
              </a:lnSpc>
            </a:pPr>
          </a:p>
          <a:p>
            <a:pPr algn="l">
              <a:lnSpc>
                <a:spcPts val="3501"/>
              </a:lnSpc>
            </a:pPr>
          </a:p>
          <a:p>
            <a:pPr algn="l">
              <a:lnSpc>
                <a:spcPts val="3501"/>
              </a:lnSpc>
            </a:pPr>
            <a:r>
              <a:rPr lang="en-US" sz="2501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Reason for Selection:</a:t>
            </a:r>
          </a:p>
          <a:p>
            <a:pPr algn="l" marL="540041" indent="-270020" lvl="1">
              <a:lnSpc>
                <a:spcPts val="3501"/>
              </a:lnSpc>
              <a:buFont typeface="Arial"/>
              <a:buChar char="•"/>
            </a:pPr>
            <a:r>
              <a:rPr lang="en-US" sz="250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Regression is suitable since HEPR is a continuous variable</a:t>
            </a:r>
          </a:p>
          <a:p>
            <a:pPr algn="l" marL="540041" indent="-270020" lvl="1">
              <a:lnSpc>
                <a:spcPts val="3501"/>
              </a:lnSpc>
              <a:buFont typeface="Arial"/>
              <a:buChar char="•"/>
            </a:pPr>
            <a:r>
              <a:rPr lang="en-US" sz="250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MLR → baseline model</a:t>
            </a:r>
          </a:p>
          <a:p>
            <a:pPr algn="l" marL="540041" indent="-270020" lvl="1">
              <a:lnSpc>
                <a:spcPts val="3501"/>
              </a:lnSpc>
              <a:buFont typeface="Arial"/>
              <a:buChar char="•"/>
            </a:pPr>
            <a:r>
              <a:rPr lang="en-US" sz="250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SVR → good for nonlinear relationships</a:t>
            </a:r>
          </a:p>
          <a:p>
            <a:pPr algn="l" marL="540041" indent="-270020" lvl="1">
              <a:lnSpc>
                <a:spcPts val="3501"/>
              </a:lnSpc>
              <a:buFont typeface="Arial"/>
              <a:buChar char="•"/>
            </a:pPr>
            <a:r>
              <a:rPr lang="en-US" sz="250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PCA/PCR → dimensionality reduction &amp; multicollinearity handling</a:t>
            </a:r>
          </a:p>
          <a:p>
            <a:pPr algn="l">
              <a:lnSpc>
                <a:spcPts val="350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3762" y="1967402"/>
            <a:ext cx="4811390" cy="4618934"/>
          </a:xfrm>
          <a:custGeom>
            <a:avLst/>
            <a:gdLst/>
            <a:ahLst/>
            <a:cxnLst/>
            <a:rect r="r" b="b" t="t" l="l"/>
            <a:pathLst>
              <a:path h="4618934" w="4811390">
                <a:moveTo>
                  <a:pt x="0" y="0"/>
                </a:moveTo>
                <a:lnTo>
                  <a:pt x="4811389" y="0"/>
                </a:lnTo>
                <a:lnTo>
                  <a:pt x="4811389" y="4618934"/>
                </a:lnTo>
                <a:lnTo>
                  <a:pt x="0" y="46189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36739" y="1967402"/>
            <a:ext cx="4868442" cy="4618934"/>
          </a:xfrm>
          <a:custGeom>
            <a:avLst/>
            <a:gdLst/>
            <a:ahLst/>
            <a:cxnLst/>
            <a:rect r="r" b="b" t="t" l="l"/>
            <a:pathLst>
              <a:path h="4618934" w="4868442">
                <a:moveTo>
                  <a:pt x="0" y="0"/>
                </a:moveTo>
                <a:lnTo>
                  <a:pt x="4868442" y="0"/>
                </a:lnTo>
                <a:lnTo>
                  <a:pt x="4868442" y="4618934"/>
                </a:lnTo>
                <a:lnTo>
                  <a:pt x="0" y="46189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057606" y="1967402"/>
            <a:ext cx="5241344" cy="4618934"/>
          </a:xfrm>
          <a:custGeom>
            <a:avLst/>
            <a:gdLst/>
            <a:ahLst/>
            <a:cxnLst/>
            <a:rect r="r" b="b" t="t" l="l"/>
            <a:pathLst>
              <a:path h="4618934" w="5241344">
                <a:moveTo>
                  <a:pt x="0" y="0"/>
                </a:moveTo>
                <a:lnTo>
                  <a:pt x="5241344" y="0"/>
                </a:lnTo>
                <a:lnTo>
                  <a:pt x="5241344" y="4618934"/>
                </a:lnTo>
                <a:lnTo>
                  <a:pt x="0" y="46189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64051" y="7100857"/>
            <a:ext cx="4821101" cy="2157443"/>
          </a:xfrm>
          <a:custGeom>
            <a:avLst/>
            <a:gdLst/>
            <a:ahLst/>
            <a:cxnLst/>
            <a:rect r="r" b="b" t="t" l="l"/>
            <a:pathLst>
              <a:path h="2157443" w="4821101">
                <a:moveTo>
                  <a:pt x="0" y="0"/>
                </a:moveTo>
                <a:lnTo>
                  <a:pt x="4821100" y="0"/>
                </a:lnTo>
                <a:lnTo>
                  <a:pt x="4821100" y="2157443"/>
                </a:lnTo>
                <a:lnTo>
                  <a:pt x="0" y="2157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3762" y="490220"/>
            <a:ext cx="16585538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EDA - HISTOGRAMS OF INPUT FEATURES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3762" y="2035654"/>
            <a:ext cx="11301259" cy="3107846"/>
          </a:xfrm>
          <a:custGeom>
            <a:avLst/>
            <a:gdLst/>
            <a:ahLst/>
            <a:cxnLst/>
            <a:rect r="r" b="b" t="t" l="l"/>
            <a:pathLst>
              <a:path h="3107846" w="11301259">
                <a:moveTo>
                  <a:pt x="0" y="0"/>
                </a:moveTo>
                <a:lnTo>
                  <a:pt x="11301259" y="0"/>
                </a:lnTo>
                <a:lnTo>
                  <a:pt x="11301259" y="3107846"/>
                </a:lnTo>
                <a:lnTo>
                  <a:pt x="0" y="31078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3762" y="6051568"/>
            <a:ext cx="11301259" cy="3206732"/>
          </a:xfrm>
          <a:custGeom>
            <a:avLst/>
            <a:gdLst/>
            <a:ahLst/>
            <a:cxnLst/>
            <a:rect r="r" b="b" t="t" l="l"/>
            <a:pathLst>
              <a:path h="3206732" w="11301259">
                <a:moveTo>
                  <a:pt x="0" y="0"/>
                </a:moveTo>
                <a:lnTo>
                  <a:pt x="11301259" y="0"/>
                </a:lnTo>
                <a:lnTo>
                  <a:pt x="11301259" y="3206732"/>
                </a:lnTo>
                <a:lnTo>
                  <a:pt x="0" y="3206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73762" y="490220"/>
            <a:ext cx="16585538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EDA - KDE PLOTS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9079" y="1842625"/>
            <a:ext cx="7733690" cy="3300875"/>
          </a:xfrm>
          <a:custGeom>
            <a:avLst/>
            <a:gdLst/>
            <a:ahLst/>
            <a:cxnLst/>
            <a:rect r="r" b="b" t="t" l="l"/>
            <a:pathLst>
              <a:path h="3300875" w="7733690">
                <a:moveTo>
                  <a:pt x="0" y="0"/>
                </a:moveTo>
                <a:lnTo>
                  <a:pt x="7733690" y="0"/>
                </a:lnTo>
                <a:lnTo>
                  <a:pt x="7733690" y="3300875"/>
                </a:lnTo>
                <a:lnTo>
                  <a:pt x="0" y="33008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25" t="0" r="-4983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9079" y="6235201"/>
            <a:ext cx="11301259" cy="3192606"/>
          </a:xfrm>
          <a:custGeom>
            <a:avLst/>
            <a:gdLst/>
            <a:ahLst/>
            <a:cxnLst/>
            <a:rect r="r" b="b" t="t" l="l"/>
            <a:pathLst>
              <a:path h="3192606" w="11301259">
                <a:moveTo>
                  <a:pt x="0" y="0"/>
                </a:moveTo>
                <a:lnTo>
                  <a:pt x="11301259" y="0"/>
                </a:lnTo>
                <a:lnTo>
                  <a:pt x="11301259" y="3192606"/>
                </a:lnTo>
                <a:lnTo>
                  <a:pt x="0" y="31926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1842625"/>
            <a:ext cx="8278056" cy="3300875"/>
          </a:xfrm>
          <a:custGeom>
            <a:avLst/>
            <a:gdLst/>
            <a:ahLst/>
            <a:cxnLst/>
            <a:rect r="r" b="b" t="t" l="l"/>
            <a:pathLst>
              <a:path h="3300875" w="8278056">
                <a:moveTo>
                  <a:pt x="0" y="0"/>
                </a:moveTo>
                <a:lnTo>
                  <a:pt x="8278056" y="0"/>
                </a:lnTo>
                <a:lnTo>
                  <a:pt x="8278056" y="3300875"/>
                </a:lnTo>
                <a:lnTo>
                  <a:pt x="0" y="33008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9079" y="277055"/>
            <a:ext cx="16585538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EDA - KDE PLOTS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426921"/>
            <a:ext cx="4297878" cy="3157121"/>
          </a:xfrm>
          <a:custGeom>
            <a:avLst/>
            <a:gdLst/>
            <a:ahLst/>
            <a:cxnLst/>
            <a:rect r="r" b="b" t="t" l="l"/>
            <a:pathLst>
              <a:path h="3157121" w="4297878">
                <a:moveTo>
                  <a:pt x="0" y="0"/>
                </a:moveTo>
                <a:lnTo>
                  <a:pt x="4297878" y="0"/>
                </a:lnTo>
                <a:lnTo>
                  <a:pt x="4297878" y="3157121"/>
                </a:lnTo>
                <a:lnTo>
                  <a:pt x="0" y="31571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83153" y="2426921"/>
            <a:ext cx="4103647" cy="3157121"/>
          </a:xfrm>
          <a:custGeom>
            <a:avLst/>
            <a:gdLst/>
            <a:ahLst/>
            <a:cxnLst/>
            <a:rect r="r" b="b" t="t" l="l"/>
            <a:pathLst>
              <a:path h="3157121" w="4103647">
                <a:moveTo>
                  <a:pt x="0" y="0"/>
                </a:moveTo>
                <a:lnTo>
                  <a:pt x="4103647" y="0"/>
                </a:lnTo>
                <a:lnTo>
                  <a:pt x="4103647" y="3157121"/>
                </a:lnTo>
                <a:lnTo>
                  <a:pt x="0" y="31571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2426921"/>
            <a:ext cx="4144105" cy="3157121"/>
          </a:xfrm>
          <a:custGeom>
            <a:avLst/>
            <a:gdLst/>
            <a:ahLst/>
            <a:cxnLst/>
            <a:rect r="r" b="b" t="t" l="l"/>
            <a:pathLst>
              <a:path h="3157121" w="4144105">
                <a:moveTo>
                  <a:pt x="0" y="0"/>
                </a:moveTo>
                <a:lnTo>
                  <a:pt x="4144105" y="0"/>
                </a:lnTo>
                <a:lnTo>
                  <a:pt x="4144105" y="3157121"/>
                </a:lnTo>
                <a:lnTo>
                  <a:pt x="0" y="31571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745305" y="2426921"/>
            <a:ext cx="4276024" cy="3157121"/>
          </a:xfrm>
          <a:custGeom>
            <a:avLst/>
            <a:gdLst/>
            <a:ahLst/>
            <a:cxnLst/>
            <a:rect r="r" b="b" t="t" l="l"/>
            <a:pathLst>
              <a:path h="3157121" w="4276024">
                <a:moveTo>
                  <a:pt x="0" y="0"/>
                </a:moveTo>
                <a:lnTo>
                  <a:pt x="4276024" y="0"/>
                </a:lnTo>
                <a:lnTo>
                  <a:pt x="4276024" y="3157121"/>
                </a:lnTo>
                <a:lnTo>
                  <a:pt x="0" y="31571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6049856"/>
            <a:ext cx="4297878" cy="3208444"/>
          </a:xfrm>
          <a:custGeom>
            <a:avLst/>
            <a:gdLst/>
            <a:ahLst/>
            <a:cxnLst/>
            <a:rect r="r" b="b" t="t" l="l"/>
            <a:pathLst>
              <a:path h="3208444" w="4297878">
                <a:moveTo>
                  <a:pt x="0" y="0"/>
                </a:moveTo>
                <a:lnTo>
                  <a:pt x="4297878" y="0"/>
                </a:lnTo>
                <a:lnTo>
                  <a:pt x="4297878" y="3208444"/>
                </a:lnTo>
                <a:lnTo>
                  <a:pt x="0" y="32084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583153" y="6126569"/>
            <a:ext cx="4103647" cy="3131731"/>
          </a:xfrm>
          <a:custGeom>
            <a:avLst/>
            <a:gdLst/>
            <a:ahLst/>
            <a:cxnLst/>
            <a:rect r="r" b="b" t="t" l="l"/>
            <a:pathLst>
              <a:path h="3131731" w="4103647">
                <a:moveTo>
                  <a:pt x="0" y="0"/>
                </a:moveTo>
                <a:lnTo>
                  <a:pt x="4103647" y="0"/>
                </a:lnTo>
                <a:lnTo>
                  <a:pt x="4103647" y="3131731"/>
                </a:lnTo>
                <a:lnTo>
                  <a:pt x="0" y="31317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4000" y="6049856"/>
            <a:ext cx="4144105" cy="3114137"/>
          </a:xfrm>
          <a:custGeom>
            <a:avLst/>
            <a:gdLst/>
            <a:ahLst/>
            <a:cxnLst/>
            <a:rect r="r" b="b" t="t" l="l"/>
            <a:pathLst>
              <a:path h="3114137" w="4144105">
                <a:moveTo>
                  <a:pt x="0" y="0"/>
                </a:moveTo>
                <a:lnTo>
                  <a:pt x="4144105" y="0"/>
                </a:lnTo>
                <a:lnTo>
                  <a:pt x="4144105" y="3114138"/>
                </a:lnTo>
                <a:lnTo>
                  <a:pt x="0" y="31141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745305" y="6032263"/>
            <a:ext cx="4225057" cy="3131731"/>
          </a:xfrm>
          <a:custGeom>
            <a:avLst/>
            <a:gdLst/>
            <a:ahLst/>
            <a:cxnLst/>
            <a:rect r="r" b="b" t="t" l="l"/>
            <a:pathLst>
              <a:path h="3131731" w="4225057">
                <a:moveTo>
                  <a:pt x="0" y="0"/>
                </a:moveTo>
                <a:lnTo>
                  <a:pt x="4225056" y="0"/>
                </a:lnTo>
                <a:lnTo>
                  <a:pt x="4225056" y="3131731"/>
                </a:lnTo>
                <a:lnTo>
                  <a:pt x="0" y="31317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23632" y="490220"/>
            <a:ext cx="16585538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BOX PLOTS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2643" y="1647716"/>
            <a:ext cx="4676792" cy="3495784"/>
          </a:xfrm>
          <a:custGeom>
            <a:avLst/>
            <a:gdLst/>
            <a:ahLst/>
            <a:cxnLst/>
            <a:rect r="r" b="b" t="t" l="l"/>
            <a:pathLst>
              <a:path h="3495784" w="4676792">
                <a:moveTo>
                  <a:pt x="0" y="0"/>
                </a:moveTo>
                <a:lnTo>
                  <a:pt x="4676792" y="0"/>
                </a:lnTo>
                <a:lnTo>
                  <a:pt x="4676792" y="3495784"/>
                </a:lnTo>
                <a:lnTo>
                  <a:pt x="0" y="34957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25735" y="1573631"/>
            <a:ext cx="4611460" cy="3495784"/>
          </a:xfrm>
          <a:custGeom>
            <a:avLst/>
            <a:gdLst/>
            <a:ahLst/>
            <a:cxnLst/>
            <a:rect r="r" b="b" t="t" l="l"/>
            <a:pathLst>
              <a:path h="3495784" w="4611460">
                <a:moveTo>
                  <a:pt x="0" y="0"/>
                </a:moveTo>
                <a:lnTo>
                  <a:pt x="4611460" y="0"/>
                </a:lnTo>
                <a:lnTo>
                  <a:pt x="4611460" y="3495784"/>
                </a:lnTo>
                <a:lnTo>
                  <a:pt x="0" y="34957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11117" y="1573631"/>
            <a:ext cx="4654231" cy="3495784"/>
          </a:xfrm>
          <a:custGeom>
            <a:avLst/>
            <a:gdLst/>
            <a:ahLst/>
            <a:cxnLst/>
            <a:rect r="r" b="b" t="t" l="l"/>
            <a:pathLst>
              <a:path h="3495784" w="4654231">
                <a:moveTo>
                  <a:pt x="0" y="0"/>
                </a:moveTo>
                <a:lnTo>
                  <a:pt x="4654231" y="0"/>
                </a:lnTo>
                <a:lnTo>
                  <a:pt x="4654231" y="3495784"/>
                </a:lnTo>
                <a:lnTo>
                  <a:pt x="0" y="3495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2643" y="5851604"/>
            <a:ext cx="4676792" cy="3446415"/>
          </a:xfrm>
          <a:custGeom>
            <a:avLst/>
            <a:gdLst/>
            <a:ahLst/>
            <a:cxnLst/>
            <a:rect r="r" b="b" t="t" l="l"/>
            <a:pathLst>
              <a:path h="3446415" w="4676792">
                <a:moveTo>
                  <a:pt x="0" y="0"/>
                </a:moveTo>
                <a:lnTo>
                  <a:pt x="4676792" y="0"/>
                </a:lnTo>
                <a:lnTo>
                  <a:pt x="4676792" y="3446415"/>
                </a:lnTo>
                <a:lnTo>
                  <a:pt x="0" y="34464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025735" y="5794686"/>
            <a:ext cx="4611460" cy="3503333"/>
          </a:xfrm>
          <a:custGeom>
            <a:avLst/>
            <a:gdLst/>
            <a:ahLst/>
            <a:cxnLst/>
            <a:rect r="r" b="b" t="t" l="l"/>
            <a:pathLst>
              <a:path h="3503333" w="4611460">
                <a:moveTo>
                  <a:pt x="0" y="0"/>
                </a:moveTo>
                <a:lnTo>
                  <a:pt x="4611460" y="0"/>
                </a:lnTo>
                <a:lnTo>
                  <a:pt x="4611460" y="3503333"/>
                </a:lnTo>
                <a:lnTo>
                  <a:pt x="0" y="35033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511117" y="5794686"/>
            <a:ext cx="4654231" cy="3463614"/>
          </a:xfrm>
          <a:custGeom>
            <a:avLst/>
            <a:gdLst/>
            <a:ahLst/>
            <a:cxnLst/>
            <a:rect r="r" b="b" t="t" l="l"/>
            <a:pathLst>
              <a:path h="3463614" w="4654231">
                <a:moveTo>
                  <a:pt x="0" y="0"/>
                </a:moveTo>
                <a:lnTo>
                  <a:pt x="4654231" y="0"/>
                </a:lnTo>
                <a:lnTo>
                  <a:pt x="4654231" y="3463614"/>
                </a:lnTo>
                <a:lnTo>
                  <a:pt x="0" y="34636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79809" y="277055"/>
            <a:ext cx="16585538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BOX PLOTS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316" y="2165277"/>
            <a:ext cx="4568014" cy="3249000"/>
          </a:xfrm>
          <a:custGeom>
            <a:avLst/>
            <a:gdLst/>
            <a:ahLst/>
            <a:cxnLst/>
            <a:rect r="r" b="b" t="t" l="l"/>
            <a:pathLst>
              <a:path h="3249000" w="4568014">
                <a:moveTo>
                  <a:pt x="0" y="0"/>
                </a:moveTo>
                <a:lnTo>
                  <a:pt x="4568014" y="0"/>
                </a:lnTo>
                <a:lnTo>
                  <a:pt x="4568014" y="3249000"/>
                </a:lnTo>
                <a:lnTo>
                  <a:pt x="0" y="3249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73899" y="2165277"/>
            <a:ext cx="4524785" cy="3249000"/>
          </a:xfrm>
          <a:custGeom>
            <a:avLst/>
            <a:gdLst/>
            <a:ahLst/>
            <a:cxnLst/>
            <a:rect r="r" b="b" t="t" l="l"/>
            <a:pathLst>
              <a:path h="3249000" w="4524785">
                <a:moveTo>
                  <a:pt x="0" y="0"/>
                </a:moveTo>
                <a:lnTo>
                  <a:pt x="4524785" y="0"/>
                </a:lnTo>
                <a:lnTo>
                  <a:pt x="4524785" y="3249000"/>
                </a:lnTo>
                <a:lnTo>
                  <a:pt x="0" y="3249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6309" y="2165277"/>
            <a:ext cx="4600354" cy="3249000"/>
          </a:xfrm>
          <a:custGeom>
            <a:avLst/>
            <a:gdLst/>
            <a:ahLst/>
            <a:cxnLst/>
            <a:rect r="r" b="b" t="t" l="l"/>
            <a:pathLst>
              <a:path h="3249000" w="4600354">
                <a:moveTo>
                  <a:pt x="0" y="0"/>
                </a:moveTo>
                <a:lnTo>
                  <a:pt x="4600354" y="0"/>
                </a:lnTo>
                <a:lnTo>
                  <a:pt x="4600354" y="3249000"/>
                </a:lnTo>
                <a:lnTo>
                  <a:pt x="0" y="3249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721930" y="2165277"/>
            <a:ext cx="4520755" cy="3218550"/>
          </a:xfrm>
          <a:custGeom>
            <a:avLst/>
            <a:gdLst/>
            <a:ahLst/>
            <a:cxnLst/>
            <a:rect r="r" b="b" t="t" l="l"/>
            <a:pathLst>
              <a:path h="3218550" w="4520755">
                <a:moveTo>
                  <a:pt x="0" y="0"/>
                </a:moveTo>
                <a:lnTo>
                  <a:pt x="4520754" y="0"/>
                </a:lnTo>
                <a:lnTo>
                  <a:pt x="4520754" y="3218550"/>
                </a:lnTo>
                <a:lnTo>
                  <a:pt x="0" y="32185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6258348"/>
            <a:ext cx="4658646" cy="3272698"/>
          </a:xfrm>
          <a:custGeom>
            <a:avLst/>
            <a:gdLst/>
            <a:ahLst/>
            <a:cxnLst/>
            <a:rect r="r" b="b" t="t" l="l"/>
            <a:pathLst>
              <a:path h="3272698" w="4658646">
                <a:moveTo>
                  <a:pt x="0" y="0"/>
                </a:moveTo>
                <a:lnTo>
                  <a:pt x="4658646" y="0"/>
                </a:lnTo>
                <a:lnTo>
                  <a:pt x="4658646" y="3272699"/>
                </a:lnTo>
                <a:lnTo>
                  <a:pt x="0" y="32726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658646" y="6258348"/>
            <a:ext cx="4532979" cy="3216770"/>
          </a:xfrm>
          <a:custGeom>
            <a:avLst/>
            <a:gdLst/>
            <a:ahLst/>
            <a:cxnLst/>
            <a:rect r="r" b="b" t="t" l="l"/>
            <a:pathLst>
              <a:path h="3216770" w="4532979">
                <a:moveTo>
                  <a:pt x="0" y="0"/>
                </a:moveTo>
                <a:lnTo>
                  <a:pt x="4532979" y="0"/>
                </a:lnTo>
                <a:lnTo>
                  <a:pt x="4532979" y="3216770"/>
                </a:lnTo>
                <a:lnTo>
                  <a:pt x="0" y="32167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18279" y="6270917"/>
            <a:ext cx="4575620" cy="3260130"/>
          </a:xfrm>
          <a:custGeom>
            <a:avLst/>
            <a:gdLst/>
            <a:ahLst/>
            <a:cxnLst/>
            <a:rect r="r" b="b" t="t" l="l"/>
            <a:pathLst>
              <a:path h="3260130" w="4575620">
                <a:moveTo>
                  <a:pt x="0" y="0"/>
                </a:moveTo>
                <a:lnTo>
                  <a:pt x="4575621" y="0"/>
                </a:lnTo>
                <a:lnTo>
                  <a:pt x="4575621" y="3260130"/>
                </a:lnTo>
                <a:lnTo>
                  <a:pt x="0" y="32601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820554" y="6260518"/>
            <a:ext cx="4520755" cy="3169072"/>
          </a:xfrm>
          <a:custGeom>
            <a:avLst/>
            <a:gdLst/>
            <a:ahLst/>
            <a:cxnLst/>
            <a:rect r="r" b="b" t="t" l="l"/>
            <a:pathLst>
              <a:path h="3169072" w="4520755">
                <a:moveTo>
                  <a:pt x="0" y="0"/>
                </a:moveTo>
                <a:lnTo>
                  <a:pt x="4520755" y="0"/>
                </a:lnTo>
                <a:lnTo>
                  <a:pt x="4520755" y="3169072"/>
                </a:lnTo>
                <a:lnTo>
                  <a:pt x="0" y="31690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73762" y="401906"/>
            <a:ext cx="16585538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SCATTER PLOTS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85942" y="1776300"/>
            <a:ext cx="4664691" cy="3265284"/>
          </a:xfrm>
          <a:custGeom>
            <a:avLst/>
            <a:gdLst/>
            <a:ahLst/>
            <a:cxnLst/>
            <a:rect r="r" b="b" t="t" l="l"/>
            <a:pathLst>
              <a:path h="3265284" w="4664691">
                <a:moveTo>
                  <a:pt x="0" y="0"/>
                </a:moveTo>
                <a:lnTo>
                  <a:pt x="4664692" y="0"/>
                </a:lnTo>
                <a:lnTo>
                  <a:pt x="4664692" y="3265284"/>
                </a:lnTo>
                <a:lnTo>
                  <a:pt x="0" y="32652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22134" y="1776300"/>
            <a:ext cx="4664691" cy="3265284"/>
          </a:xfrm>
          <a:custGeom>
            <a:avLst/>
            <a:gdLst/>
            <a:ahLst/>
            <a:cxnLst/>
            <a:rect r="r" b="b" t="t" l="l"/>
            <a:pathLst>
              <a:path h="3265284" w="4664691">
                <a:moveTo>
                  <a:pt x="0" y="0"/>
                </a:moveTo>
                <a:lnTo>
                  <a:pt x="4664691" y="0"/>
                </a:lnTo>
                <a:lnTo>
                  <a:pt x="4664691" y="3265284"/>
                </a:lnTo>
                <a:lnTo>
                  <a:pt x="0" y="32652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61050" y="1776300"/>
            <a:ext cx="4698250" cy="3265284"/>
          </a:xfrm>
          <a:custGeom>
            <a:avLst/>
            <a:gdLst/>
            <a:ahLst/>
            <a:cxnLst/>
            <a:rect r="r" b="b" t="t" l="l"/>
            <a:pathLst>
              <a:path h="3265284" w="4698250">
                <a:moveTo>
                  <a:pt x="0" y="0"/>
                </a:moveTo>
                <a:lnTo>
                  <a:pt x="4698250" y="0"/>
                </a:lnTo>
                <a:lnTo>
                  <a:pt x="4698250" y="3265284"/>
                </a:lnTo>
                <a:lnTo>
                  <a:pt x="0" y="32652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85942" y="5981186"/>
            <a:ext cx="4664691" cy="3306100"/>
          </a:xfrm>
          <a:custGeom>
            <a:avLst/>
            <a:gdLst/>
            <a:ahLst/>
            <a:cxnLst/>
            <a:rect r="r" b="b" t="t" l="l"/>
            <a:pathLst>
              <a:path h="3306100" w="4664691">
                <a:moveTo>
                  <a:pt x="0" y="0"/>
                </a:moveTo>
                <a:lnTo>
                  <a:pt x="4664692" y="0"/>
                </a:lnTo>
                <a:lnTo>
                  <a:pt x="4664692" y="3306101"/>
                </a:lnTo>
                <a:lnTo>
                  <a:pt x="0" y="33061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322134" y="5969525"/>
            <a:ext cx="4664691" cy="3317762"/>
          </a:xfrm>
          <a:custGeom>
            <a:avLst/>
            <a:gdLst/>
            <a:ahLst/>
            <a:cxnLst/>
            <a:rect r="r" b="b" t="t" l="l"/>
            <a:pathLst>
              <a:path h="3317762" w="4664691">
                <a:moveTo>
                  <a:pt x="0" y="0"/>
                </a:moveTo>
                <a:lnTo>
                  <a:pt x="4664691" y="0"/>
                </a:lnTo>
                <a:lnTo>
                  <a:pt x="4664691" y="3317762"/>
                </a:lnTo>
                <a:lnTo>
                  <a:pt x="0" y="33177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561050" y="5969525"/>
            <a:ext cx="4698250" cy="3288775"/>
          </a:xfrm>
          <a:custGeom>
            <a:avLst/>
            <a:gdLst/>
            <a:ahLst/>
            <a:cxnLst/>
            <a:rect r="r" b="b" t="t" l="l"/>
            <a:pathLst>
              <a:path h="3288775" w="4698250">
                <a:moveTo>
                  <a:pt x="0" y="0"/>
                </a:moveTo>
                <a:lnTo>
                  <a:pt x="4698250" y="0"/>
                </a:lnTo>
                <a:lnTo>
                  <a:pt x="4698250" y="3288775"/>
                </a:lnTo>
                <a:lnTo>
                  <a:pt x="0" y="32887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490220"/>
            <a:ext cx="16585538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SCATTER PLOTS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86741" y="0"/>
            <a:ext cx="11301259" cy="5198579"/>
          </a:xfrm>
          <a:custGeom>
            <a:avLst/>
            <a:gdLst/>
            <a:ahLst/>
            <a:cxnLst/>
            <a:rect r="r" b="b" t="t" l="l"/>
            <a:pathLst>
              <a:path h="5198579" w="11301259">
                <a:moveTo>
                  <a:pt x="0" y="0"/>
                </a:moveTo>
                <a:lnTo>
                  <a:pt x="11301259" y="0"/>
                </a:lnTo>
                <a:lnTo>
                  <a:pt x="11301259" y="5198579"/>
                </a:lnTo>
                <a:lnTo>
                  <a:pt x="0" y="5198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86741" y="5198579"/>
            <a:ext cx="11301259" cy="5526230"/>
          </a:xfrm>
          <a:custGeom>
            <a:avLst/>
            <a:gdLst/>
            <a:ahLst/>
            <a:cxnLst/>
            <a:rect r="r" b="b" t="t" l="l"/>
            <a:pathLst>
              <a:path h="5526230" w="11301259">
                <a:moveTo>
                  <a:pt x="0" y="0"/>
                </a:moveTo>
                <a:lnTo>
                  <a:pt x="11301259" y="0"/>
                </a:lnTo>
                <a:lnTo>
                  <a:pt x="11301259" y="5526230"/>
                </a:lnTo>
                <a:lnTo>
                  <a:pt x="0" y="55262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506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8437" y="270949"/>
            <a:ext cx="6728304" cy="195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CORRELATION HEATMAP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138018" y="0"/>
            <a:ext cx="10149982" cy="4960804"/>
          </a:xfrm>
          <a:custGeom>
            <a:avLst/>
            <a:gdLst/>
            <a:ahLst/>
            <a:cxnLst/>
            <a:rect r="r" b="b" t="t" l="l"/>
            <a:pathLst>
              <a:path h="4960804" w="10149982">
                <a:moveTo>
                  <a:pt x="0" y="0"/>
                </a:moveTo>
                <a:lnTo>
                  <a:pt x="10149982" y="0"/>
                </a:lnTo>
                <a:lnTo>
                  <a:pt x="10149982" y="4960804"/>
                </a:lnTo>
                <a:lnTo>
                  <a:pt x="0" y="49608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38018" y="4960804"/>
            <a:ext cx="10149982" cy="5277991"/>
          </a:xfrm>
          <a:custGeom>
            <a:avLst/>
            <a:gdLst/>
            <a:ahLst/>
            <a:cxnLst/>
            <a:rect r="r" b="b" t="t" l="l"/>
            <a:pathLst>
              <a:path h="5277991" w="10149982">
                <a:moveTo>
                  <a:pt x="0" y="0"/>
                </a:moveTo>
                <a:lnTo>
                  <a:pt x="10149982" y="0"/>
                </a:lnTo>
                <a:lnTo>
                  <a:pt x="10149982" y="5277990"/>
                </a:lnTo>
                <a:lnTo>
                  <a:pt x="0" y="52779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4891942" y="527142"/>
            <a:ext cx="16585538" cy="195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PAIR </a:t>
            </a:r>
          </a:p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PLOTS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24095" y="1890932"/>
            <a:ext cx="9765374" cy="7367368"/>
          </a:xfrm>
          <a:custGeom>
            <a:avLst/>
            <a:gdLst/>
            <a:ahLst/>
            <a:cxnLst/>
            <a:rect r="r" b="b" t="t" l="l"/>
            <a:pathLst>
              <a:path h="7367368" w="9765374">
                <a:moveTo>
                  <a:pt x="0" y="0"/>
                </a:moveTo>
                <a:lnTo>
                  <a:pt x="9765375" y="0"/>
                </a:lnTo>
                <a:lnTo>
                  <a:pt x="9765375" y="7367368"/>
                </a:lnTo>
                <a:lnTo>
                  <a:pt x="0" y="73673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3762" y="490220"/>
            <a:ext cx="16585538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MLR - INTERCEPT &amp; COEFFECIENTS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07998" y="1915056"/>
            <a:ext cx="8281547" cy="7343244"/>
          </a:xfrm>
          <a:custGeom>
            <a:avLst/>
            <a:gdLst/>
            <a:ahLst/>
            <a:cxnLst/>
            <a:rect r="r" b="b" t="t" l="l"/>
            <a:pathLst>
              <a:path h="7343244" w="8281547">
                <a:moveTo>
                  <a:pt x="0" y="0"/>
                </a:moveTo>
                <a:lnTo>
                  <a:pt x="8281547" y="0"/>
                </a:lnTo>
                <a:lnTo>
                  <a:pt x="8281547" y="7343244"/>
                </a:lnTo>
                <a:lnTo>
                  <a:pt x="0" y="73432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3762" y="490220"/>
            <a:ext cx="16585538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MLR - PERFORMANCE METRICS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3762" y="1915056"/>
            <a:ext cx="8292769" cy="6708326"/>
          </a:xfrm>
          <a:custGeom>
            <a:avLst/>
            <a:gdLst/>
            <a:ahLst/>
            <a:cxnLst/>
            <a:rect r="r" b="b" t="t" l="l"/>
            <a:pathLst>
              <a:path h="6708326" w="8292769">
                <a:moveTo>
                  <a:pt x="0" y="0"/>
                </a:moveTo>
                <a:lnTo>
                  <a:pt x="8292769" y="0"/>
                </a:lnTo>
                <a:lnTo>
                  <a:pt x="8292769" y="6708327"/>
                </a:lnTo>
                <a:lnTo>
                  <a:pt x="0" y="67083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63914" y="1915056"/>
            <a:ext cx="7535729" cy="6708326"/>
          </a:xfrm>
          <a:custGeom>
            <a:avLst/>
            <a:gdLst/>
            <a:ahLst/>
            <a:cxnLst/>
            <a:rect r="r" b="b" t="t" l="l"/>
            <a:pathLst>
              <a:path h="6708326" w="7535729">
                <a:moveTo>
                  <a:pt x="0" y="0"/>
                </a:moveTo>
                <a:lnTo>
                  <a:pt x="7535729" y="0"/>
                </a:lnTo>
                <a:lnTo>
                  <a:pt x="7535729" y="6708327"/>
                </a:lnTo>
                <a:lnTo>
                  <a:pt x="0" y="67083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73762" y="490220"/>
            <a:ext cx="16585538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MLR - PARITY PLOTS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222821"/>
            <a:ext cx="16230600" cy="3841357"/>
          </a:xfrm>
          <a:custGeom>
            <a:avLst/>
            <a:gdLst/>
            <a:ahLst/>
            <a:cxnLst/>
            <a:rect r="r" b="b" t="t" l="l"/>
            <a:pathLst>
              <a:path h="3841357" w="16230600">
                <a:moveTo>
                  <a:pt x="0" y="0"/>
                </a:moveTo>
                <a:lnTo>
                  <a:pt x="16230600" y="0"/>
                </a:lnTo>
                <a:lnTo>
                  <a:pt x="16230600" y="3841358"/>
                </a:lnTo>
                <a:lnTo>
                  <a:pt x="0" y="38413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3762" y="490220"/>
            <a:ext cx="16585538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MLR - 5 FOLD CROSS VALIDATION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10631" y="2031487"/>
            <a:ext cx="7711799" cy="6835458"/>
          </a:xfrm>
          <a:custGeom>
            <a:avLst/>
            <a:gdLst/>
            <a:ahLst/>
            <a:cxnLst/>
            <a:rect r="r" b="b" t="t" l="l"/>
            <a:pathLst>
              <a:path h="6835458" w="7711799">
                <a:moveTo>
                  <a:pt x="0" y="0"/>
                </a:moveTo>
                <a:lnTo>
                  <a:pt x="7711799" y="0"/>
                </a:lnTo>
                <a:lnTo>
                  <a:pt x="7711799" y="6835458"/>
                </a:lnTo>
                <a:lnTo>
                  <a:pt x="0" y="68354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3762" y="490220"/>
            <a:ext cx="16585538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SVR - PERFORMANCE METRICS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3762" y="2237516"/>
            <a:ext cx="8292769" cy="6786164"/>
          </a:xfrm>
          <a:custGeom>
            <a:avLst/>
            <a:gdLst/>
            <a:ahLst/>
            <a:cxnLst/>
            <a:rect r="r" b="b" t="t" l="l"/>
            <a:pathLst>
              <a:path h="6786164" w="8292769">
                <a:moveTo>
                  <a:pt x="0" y="0"/>
                </a:moveTo>
                <a:lnTo>
                  <a:pt x="8292769" y="0"/>
                </a:lnTo>
                <a:lnTo>
                  <a:pt x="8292769" y="6786164"/>
                </a:lnTo>
                <a:lnTo>
                  <a:pt x="0" y="67861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10838" y="2237516"/>
            <a:ext cx="7476282" cy="6786164"/>
          </a:xfrm>
          <a:custGeom>
            <a:avLst/>
            <a:gdLst/>
            <a:ahLst/>
            <a:cxnLst/>
            <a:rect r="r" b="b" t="t" l="l"/>
            <a:pathLst>
              <a:path h="6786164" w="7476282">
                <a:moveTo>
                  <a:pt x="0" y="0"/>
                </a:moveTo>
                <a:lnTo>
                  <a:pt x="7476282" y="0"/>
                </a:lnTo>
                <a:lnTo>
                  <a:pt x="7476282" y="6786164"/>
                </a:lnTo>
                <a:lnTo>
                  <a:pt x="0" y="67861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73762" y="490220"/>
            <a:ext cx="16585538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SVR - PARITY PLOTS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482553"/>
            <a:ext cx="15818491" cy="3693160"/>
          </a:xfrm>
          <a:custGeom>
            <a:avLst/>
            <a:gdLst/>
            <a:ahLst/>
            <a:cxnLst/>
            <a:rect r="r" b="b" t="t" l="l"/>
            <a:pathLst>
              <a:path h="3693160" w="15818491">
                <a:moveTo>
                  <a:pt x="0" y="0"/>
                </a:moveTo>
                <a:lnTo>
                  <a:pt x="15818491" y="0"/>
                </a:lnTo>
                <a:lnTo>
                  <a:pt x="15818491" y="3693160"/>
                </a:lnTo>
                <a:lnTo>
                  <a:pt x="0" y="36931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3762" y="490220"/>
            <a:ext cx="16585538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SVR - 5 FOLD CROSS VALIDATION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9986" y="2229005"/>
            <a:ext cx="8404014" cy="6108127"/>
          </a:xfrm>
          <a:custGeom>
            <a:avLst/>
            <a:gdLst/>
            <a:ahLst/>
            <a:cxnLst/>
            <a:rect r="r" b="b" t="t" l="l"/>
            <a:pathLst>
              <a:path h="6108127" w="8404014">
                <a:moveTo>
                  <a:pt x="0" y="0"/>
                </a:moveTo>
                <a:lnTo>
                  <a:pt x="8404014" y="0"/>
                </a:lnTo>
                <a:lnTo>
                  <a:pt x="8404014" y="6108127"/>
                </a:lnTo>
                <a:lnTo>
                  <a:pt x="0" y="61081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84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42812" y="2229005"/>
            <a:ext cx="8293362" cy="6108127"/>
          </a:xfrm>
          <a:custGeom>
            <a:avLst/>
            <a:gdLst/>
            <a:ahLst/>
            <a:cxnLst/>
            <a:rect r="r" b="b" t="t" l="l"/>
            <a:pathLst>
              <a:path h="6108127" w="8293362">
                <a:moveTo>
                  <a:pt x="0" y="0"/>
                </a:moveTo>
                <a:lnTo>
                  <a:pt x="8293362" y="0"/>
                </a:lnTo>
                <a:lnTo>
                  <a:pt x="8293362" y="6108127"/>
                </a:lnTo>
                <a:lnTo>
                  <a:pt x="0" y="61081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90220"/>
            <a:ext cx="16585538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PCA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9664" y="2991738"/>
            <a:ext cx="10048592" cy="5200146"/>
          </a:xfrm>
          <a:custGeom>
            <a:avLst/>
            <a:gdLst/>
            <a:ahLst/>
            <a:cxnLst/>
            <a:rect r="r" b="b" t="t" l="l"/>
            <a:pathLst>
              <a:path h="5200146" w="10048592">
                <a:moveTo>
                  <a:pt x="0" y="0"/>
                </a:moveTo>
                <a:lnTo>
                  <a:pt x="10048592" y="0"/>
                </a:lnTo>
                <a:lnTo>
                  <a:pt x="10048592" y="5200147"/>
                </a:lnTo>
                <a:lnTo>
                  <a:pt x="0" y="52001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66050" y="2701762"/>
            <a:ext cx="6804172" cy="5780100"/>
          </a:xfrm>
          <a:custGeom>
            <a:avLst/>
            <a:gdLst/>
            <a:ahLst/>
            <a:cxnLst/>
            <a:rect r="r" b="b" t="t" l="l"/>
            <a:pathLst>
              <a:path h="5780100" w="6804172">
                <a:moveTo>
                  <a:pt x="0" y="0"/>
                </a:moveTo>
                <a:lnTo>
                  <a:pt x="6804171" y="0"/>
                </a:lnTo>
                <a:lnTo>
                  <a:pt x="6804171" y="5780099"/>
                </a:lnTo>
                <a:lnTo>
                  <a:pt x="0" y="57800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73762" y="490220"/>
            <a:ext cx="16585538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PCA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87243" y="2739126"/>
            <a:ext cx="6713513" cy="4808749"/>
          </a:xfrm>
          <a:custGeom>
            <a:avLst/>
            <a:gdLst/>
            <a:ahLst/>
            <a:cxnLst/>
            <a:rect r="r" b="b" t="t" l="l"/>
            <a:pathLst>
              <a:path h="4808749" w="6713513">
                <a:moveTo>
                  <a:pt x="0" y="0"/>
                </a:moveTo>
                <a:lnTo>
                  <a:pt x="6713514" y="0"/>
                </a:lnTo>
                <a:lnTo>
                  <a:pt x="6713514" y="4808748"/>
                </a:lnTo>
                <a:lnTo>
                  <a:pt x="0" y="48087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49101"/>
            <a:ext cx="16585538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PCR - PERFORMANCE METRICS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98820" y="1532533"/>
            <a:ext cx="7495870" cy="7221934"/>
          </a:xfrm>
          <a:custGeom>
            <a:avLst/>
            <a:gdLst/>
            <a:ahLst/>
            <a:cxnLst/>
            <a:rect r="r" b="b" t="t" l="l"/>
            <a:pathLst>
              <a:path h="7221934" w="7495870">
                <a:moveTo>
                  <a:pt x="0" y="0"/>
                </a:moveTo>
                <a:lnTo>
                  <a:pt x="7495870" y="0"/>
                </a:lnTo>
                <a:lnTo>
                  <a:pt x="7495870" y="7221934"/>
                </a:lnTo>
                <a:lnTo>
                  <a:pt x="0" y="72219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61731" y="1532533"/>
            <a:ext cx="7345235" cy="7221934"/>
          </a:xfrm>
          <a:custGeom>
            <a:avLst/>
            <a:gdLst/>
            <a:ahLst/>
            <a:cxnLst/>
            <a:rect r="r" b="b" t="t" l="l"/>
            <a:pathLst>
              <a:path h="7221934" w="7345235">
                <a:moveTo>
                  <a:pt x="0" y="0"/>
                </a:moveTo>
                <a:lnTo>
                  <a:pt x="7345235" y="0"/>
                </a:lnTo>
                <a:lnTo>
                  <a:pt x="7345235" y="7221934"/>
                </a:lnTo>
                <a:lnTo>
                  <a:pt x="0" y="72219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044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49101"/>
            <a:ext cx="16585538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PCR - PARITY PLOTS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2270" y="3952431"/>
            <a:ext cx="15304735" cy="3601114"/>
          </a:xfrm>
          <a:custGeom>
            <a:avLst/>
            <a:gdLst/>
            <a:ahLst/>
            <a:cxnLst/>
            <a:rect r="r" b="b" t="t" l="l"/>
            <a:pathLst>
              <a:path h="3601114" w="15304735">
                <a:moveTo>
                  <a:pt x="0" y="0"/>
                </a:moveTo>
                <a:lnTo>
                  <a:pt x="15304736" y="0"/>
                </a:lnTo>
                <a:lnTo>
                  <a:pt x="15304736" y="3601114"/>
                </a:lnTo>
                <a:lnTo>
                  <a:pt x="0" y="36011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49101"/>
            <a:ext cx="16585538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PCR - 5 FOLD CROSS VALIDATION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26541" y="201598"/>
            <a:ext cx="16732759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745698"/>
            <a:ext cx="592696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526541" y="2254284"/>
            <a:ext cx="16732759" cy="5346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1"/>
              </a:lnSpc>
            </a:pPr>
            <a:r>
              <a:rPr lang="en-US" sz="2501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Among the three models (MLR, SVR, PCR), the Support Vector Regression (SVR) model provides the most reliable and realistic performance.</a:t>
            </a:r>
          </a:p>
          <a:p>
            <a:pPr algn="just">
              <a:lnSpc>
                <a:spcPts val="3501"/>
              </a:lnSpc>
            </a:pPr>
          </a:p>
          <a:p>
            <a:pPr algn="just">
              <a:lnSpc>
                <a:spcPts val="3501"/>
              </a:lnSpc>
            </a:pPr>
            <a:r>
              <a:rPr lang="en-US" sz="2501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SVR achieved a Test R² of 0.9825 with an RMSE of 0.0055, indicating excellent predictive accuracy and strong generalization.</a:t>
            </a:r>
          </a:p>
          <a:p>
            <a:pPr algn="just">
              <a:lnSpc>
                <a:spcPts val="3501"/>
              </a:lnSpc>
            </a:pPr>
          </a:p>
          <a:p>
            <a:pPr algn="just">
              <a:lnSpc>
                <a:spcPts val="3501"/>
              </a:lnSpc>
            </a:pPr>
            <a:r>
              <a:rPr lang="en-US" sz="2501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While MLR shows extremely high R² values (~0.999), this is largely due to strong linear dependencies introduced by engineered features and does not fully capture the nonlinear fouling behavior.</a:t>
            </a:r>
          </a:p>
          <a:p>
            <a:pPr algn="just">
              <a:lnSpc>
                <a:spcPts val="4201"/>
              </a:lnSpc>
            </a:pPr>
          </a:p>
          <a:p>
            <a:pPr algn="just">
              <a:lnSpc>
                <a:spcPts val="3501"/>
              </a:lnSpc>
            </a:pPr>
            <a:r>
              <a:rPr lang="en-US" sz="2501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PCR performs well (Test R² = 0.955), but SVR outperforms both models and is therefore identified as the best model for predicting heat exchanger fouling (HEPR).</a:t>
            </a:r>
          </a:p>
          <a:p>
            <a:pPr algn="just">
              <a:lnSpc>
                <a:spcPts val="350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53182" y="4222724"/>
            <a:ext cx="8781636" cy="121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81"/>
              </a:lnSpc>
              <a:spcBef>
                <a:spcPct val="0"/>
              </a:spcBef>
            </a:pPr>
            <a:r>
              <a:rPr lang="en-US" b="true" sz="7058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DAG50N3SU-Y</dc:identifier>
  <dcterms:modified xsi:type="dcterms:W3CDTF">2011-08-01T06:04:30Z</dcterms:modified>
  <cp:revision>1</cp:revision>
  <dc:title>The World of</dc:title>
</cp:coreProperties>
</file>